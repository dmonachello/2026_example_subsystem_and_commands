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126" d="100"/>
          <a:sy n="126" d="100"/>
        </p:scale>
        <p:origin x="1392"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the goal: make command-based feel like a simple control loop with organized wiring. Set expectations: no new theory, just the path from controller input to motors.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Stress that the loop already exists and never stops during a match. Our job is to plug in behavior that runs inside it.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a house analogy: heartbeat (robot), wiring closet (container), appliances (subsystems), actions (commands).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Point out this only happens once at startup; it is not the 20ms loop yet.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Show that the scheduler is invoked from the periodic loop, not magic. This is the bridge between WPILib’s loop and our commands.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Show them this is the only required line to make command-based run every loop.</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Major chunks inside a pass are: input evaluation, scheduling decisions, command lifecycle, and subsystem periodic. Trigger polling covers whileTrue/onTrue/onFalse, including edge detection on transitions. Scheduling enqueues new commands, cancels ones whose triggers fell, and can interrupt existing commands that conflict on requirements. Subsystem requirements ensure only one command controls a subsystem at a time; if nothing is scheduled for a subsystem, its default command is scheduled. Lifecycle calls initialize once, execute every pass, and end on completion or interruption. Subsystem periodic methods are also run each pass so hardware outputs are updated.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Tell them: these are the actual bindings in this project, not a generic example.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whileTrue keeps the command scheduled for as long as the button is held. onTrue schedules the command once when the button transitions from not pressed to pressed. That means the whileTrue command stops immediately on release, but onTrue keeps running until it finishes or is interrupted. withTimeout(0.5) is a decorator that ends the command after 0.5 seconds, even if it is still scheduled. onTrue does not specify how the command ends; it only controls the start. Without withTimeout, this ShooterCommand would run forever because isFinished() returns false.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Default commands run whenever no other command is using that subsystem.</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the counters to prove the mental model. Defaults: InitializeCount is 1 and ExecuteCount is almost the same as Robot/TeleopPeriodicCount, so they ran every 20ms. Shooter: InitializeCount and EndCount both read 15, meaning the button started it 15 times. CmdCancelled matches EndCount because the command ended by release/interrupt, not by isFinished. ActiveSeconds is total runtime across all presses, not one long run.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this second run to show repeatability across tests. The exact counts will vary, but the ratios should stay the same.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the counters to prove the mental model. Defaults command InitializeCount is 1 and ExecuteCount is almost the same as Robot/TeleopPeriodicCount, so they ran every 20ms. Button command Shooter: InitializeCount and EndCount both read 15, meaning the button started it 15 times. CmdCancelled matches EndCount because the command ended by release/interrupt, not by isFinished. ActiveSeconds is total runtime across all presses, not one long run.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helps avoid duplicate motor control spread across files.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Concrete sequence for this project: </a:t>
            </a:r>
            <a:r>
              <a:rPr dirty="0" err="1"/>
              <a:t>Robot.robotPeriodic</a:t>
            </a:r>
            <a:r>
              <a:rPr dirty="0"/>
              <a:t> calls </a:t>
            </a:r>
            <a:r>
              <a:rPr dirty="0" err="1"/>
              <a:t>CommandScheduler.run</a:t>
            </a:r>
            <a:r>
              <a:rPr dirty="0"/>
              <a:t> each 20ms. The scheduler reads trigger state from </a:t>
            </a:r>
            <a:r>
              <a:rPr dirty="0" err="1"/>
              <a:t>RobotContainer</a:t>
            </a:r>
            <a:r>
              <a:rPr dirty="0"/>
              <a:t> bindings (B </a:t>
            </a:r>
            <a:r>
              <a:rPr dirty="0" err="1"/>
              <a:t>whileTrue</a:t>
            </a:r>
            <a:r>
              <a:rPr dirty="0"/>
              <a:t>, X </a:t>
            </a:r>
            <a:r>
              <a:rPr dirty="0" err="1"/>
              <a:t>onTrue</a:t>
            </a:r>
            <a:r>
              <a:rPr dirty="0"/>
              <a:t>). If a trigger is active, it schedules </a:t>
            </a:r>
            <a:r>
              <a:rPr dirty="0" err="1"/>
              <a:t>ShooterCommand</a:t>
            </a:r>
            <a:r>
              <a:rPr dirty="0"/>
              <a:t> and calls its execute method this pass. After commands run, </a:t>
            </a:r>
            <a:r>
              <a:rPr dirty="0" err="1"/>
              <a:t>ShooterSubsystem</a:t>
            </a:r>
            <a:r>
              <a:rPr dirty="0"/>
              <a:t> periodic runs and pushes the stored speed to the motor. This is the exact timing order to remember: scheduler -&gt; command execute -&gt; subsystem periodic.</a:t>
            </a:r>
            <a:br>
              <a:rPr lang="en-US" dirty="0"/>
            </a:br>
            <a:br>
              <a:rPr lang="en-US" dirty="0"/>
            </a:br>
            <a:r>
              <a:rPr lang="en-US" dirty="0" err="1">
                <a:latin typeface="Courier"/>
              </a:rPr>
              <a:t>src</a:t>
            </a:r>
            <a:r>
              <a:rPr lang="en-US" dirty="0">
                <a:latin typeface="Courier"/>
              </a:rPr>
              <a:t>/main/java/</a:t>
            </a:r>
            <a:r>
              <a:rPr lang="en-US" dirty="0" err="1">
                <a:latin typeface="Courier"/>
              </a:rPr>
              <a:t>frc</a:t>
            </a:r>
            <a:r>
              <a:rPr lang="en-US" dirty="0">
                <a:latin typeface="Courier"/>
              </a:rPr>
              <a:t>/robot/Robot.java</a:t>
            </a:r>
            <a:r>
              <a:rPr lang="en-US" dirty="0"/>
              <a:t> </a:t>
            </a:r>
            <a:r>
              <a:rPr lang="en-US" dirty="0" err="1">
                <a:latin typeface="Courier"/>
              </a:rPr>
              <a:t>src</a:t>
            </a:r>
            <a:r>
              <a:rPr lang="en-US" dirty="0">
                <a:latin typeface="Courier"/>
              </a:rPr>
              <a:t>/main/java/</a:t>
            </a:r>
            <a:r>
              <a:rPr lang="en-US" dirty="0" err="1">
                <a:latin typeface="Courier"/>
              </a:rPr>
              <a:t>frc</a:t>
            </a:r>
            <a:r>
              <a:rPr lang="en-US" dirty="0">
                <a:latin typeface="Courier"/>
              </a:rPr>
              <a:t>/robot/RobotContainer.java</a:t>
            </a:r>
            <a:r>
              <a:rPr lang="en-US" dirty="0"/>
              <a:t> </a:t>
            </a:r>
            <a:r>
              <a:rPr lang="en-US" dirty="0" err="1">
                <a:latin typeface="Courier"/>
              </a:rPr>
              <a:t>src</a:t>
            </a:r>
            <a:r>
              <a:rPr lang="en-US" dirty="0">
                <a:latin typeface="Courier"/>
              </a:rPr>
              <a:t>/main/java/</a:t>
            </a:r>
            <a:r>
              <a:rPr lang="en-US" dirty="0" err="1">
                <a:latin typeface="Courier"/>
              </a:rPr>
              <a:t>frc</a:t>
            </a:r>
            <a:r>
              <a:rPr lang="en-US" dirty="0">
                <a:latin typeface="Courier"/>
              </a:rPr>
              <a:t>/robot/commands/ShooterCommand.java</a:t>
            </a:r>
            <a:r>
              <a:rPr lang="en-US" dirty="0"/>
              <a:t> </a:t>
            </a:r>
            <a:r>
              <a:rPr lang="en-US" dirty="0" err="1">
                <a:latin typeface="Courier"/>
              </a:rPr>
              <a:t>src</a:t>
            </a:r>
            <a:r>
              <a:rPr lang="en-US" dirty="0">
                <a:latin typeface="Courier"/>
              </a:rPr>
              <a:t>/main/java/</a:t>
            </a:r>
            <a:r>
              <a:rPr lang="en-US" dirty="0" err="1">
                <a:latin typeface="Courier"/>
              </a:rPr>
              <a:t>frc</a:t>
            </a:r>
            <a:r>
              <a:rPr lang="en-US" dirty="0">
                <a:latin typeface="Courier"/>
              </a:rPr>
              <a:t>/robot/subsystems/ShooterSubsystem.java</a:t>
            </a:r>
          </a:p>
          <a:p>
            <a:pPr marL="0" lvl="0" indent="0">
              <a:buNone/>
            </a:pPr>
            <a:endParaRPr dirty="0"/>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command execute method gets the speed value from the supplier and gives it to the subsystem by calling setShooterSpeed.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That subsystem method saves the value.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subsystem periodic routine uses the saved speed value to set the actual hardware motor speed.</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maintainability pitch: fewer bugs and easier testing.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them to keep this model in their head during coding.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1/21/2026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Command-Based Control Flow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Title</a:t>
            </a:r>
          </a:p>
        </p:txBody>
      </p:sp>
      <p:sp>
        <p:nvSpPr>
          <p:cNvPr id="3" name="Content Placeholder 2"/>
          <p:cNvSpPr>
            <a:spLocks noGrp="1"/>
          </p:cNvSpPr>
          <p:nvPr>
            <p:ph idx="1"/>
          </p:nvPr>
        </p:nvSpPr>
        <p:spPr/>
        <p:txBody>
          <a:bodyPr/>
          <a:lstStyle/>
          <a:p>
            <a:pPr lvl="0"/>
            <a:r>
              <a:t>Command-Based Control Flow</a:t>
            </a:r>
          </a:p>
          <a:p>
            <a:pPr lvl="0"/>
            <a:r>
              <a:t>How this robot code actually runs</a:t>
            </a:r>
          </a:p>
          <a:p>
            <a:pPr lvl="0"/>
            <a:r>
              <a:t>Demo project: testDemoBoardCommandBased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Big Picture</a:t>
            </a:r>
          </a:p>
        </p:txBody>
      </p:sp>
      <p:sp>
        <p:nvSpPr>
          <p:cNvPr id="3" name="Content Placeholder 2"/>
          <p:cNvSpPr>
            <a:spLocks noGrp="1"/>
          </p:cNvSpPr>
          <p:nvPr>
            <p:ph idx="1"/>
          </p:nvPr>
        </p:nvSpPr>
        <p:spPr/>
        <p:txBody>
          <a:bodyPr/>
          <a:lstStyle/>
          <a:p>
            <a:pPr lvl="0"/>
            <a:r>
              <a:t>Robot code runs in a 20ms loop</a:t>
            </a:r>
          </a:p>
          <a:p>
            <a:pPr lvl="0"/>
            <a:r>
              <a:t>We do not write the loop; WPILib does</a:t>
            </a:r>
          </a:p>
          <a:p>
            <a:pPr lvl="0"/>
            <a:r>
              <a:t>We wire behaviors into that loop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Layers</a:t>
            </a:r>
          </a:p>
        </p:txBody>
      </p:sp>
      <p:sp>
        <p:nvSpPr>
          <p:cNvPr id="3" name="Content Placeholder 2"/>
          <p:cNvSpPr>
            <a:spLocks noGrp="1"/>
          </p:cNvSpPr>
          <p:nvPr>
            <p:ph idx="1"/>
          </p:nvPr>
        </p:nvSpPr>
        <p:spPr/>
        <p:txBody>
          <a:bodyPr/>
          <a:lstStyle/>
          <a:p>
            <a:pPr lvl="0"/>
            <a:r>
              <a:t>Robot = heartbeat</a:t>
            </a:r>
          </a:p>
          <a:p>
            <a:pPr lvl="0"/>
            <a:r>
              <a:t>RobotContainer = wiring closet</a:t>
            </a:r>
          </a:p>
          <a:p>
            <a:pPr lvl="0"/>
            <a:r>
              <a:t>Subsystems = hardware</a:t>
            </a:r>
          </a:p>
          <a:p>
            <a:pPr lvl="0"/>
            <a:r>
              <a:t>Commands = actions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Boot Sequence</a:t>
            </a:r>
          </a:p>
        </p:txBody>
      </p:sp>
      <p:sp>
        <p:nvSpPr>
          <p:cNvPr id="3" name="Content Placeholder 2"/>
          <p:cNvSpPr>
            <a:spLocks noGrp="1"/>
          </p:cNvSpPr>
          <p:nvPr>
            <p:ph idx="1"/>
          </p:nvPr>
        </p:nvSpPr>
        <p:spPr/>
        <p:txBody>
          <a:bodyPr/>
          <a:lstStyle/>
          <a:p>
            <a:pPr lvl="0"/>
            <a:r>
              <a:t>Main starts WPILib</a:t>
            </a:r>
          </a:p>
          <a:p>
            <a:pPr lvl="0"/>
            <a:r>
              <a:t>Robot is constructed</a:t>
            </a:r>
          </a:p>
          <a:p>
            <a:pPr lvl="0"/>
            <a:r>
              <a:t>RobotContainer builds subsystems and bindings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Scheduler Starts Here</a:t>
            </a:r>
          </a:p>
        </p:txBody>
      </p:sp>
      <p:sp>
        <p:nvSpPr>
          <p:cNvPr id="3" name="Content Placeholder 2"/>
          <p:cNvSpPr>
            <a:spLocks noGrp="1"/>
          </p:cNvSpPr>
          <p:nvPr>
            <p:ph idx="1"/>
          </p:nvPr>
        </p:nvSpPr>
        <p:spPr/>
        <p:txBody>
          <a:bodyPr/>
          <a:lstStyle/>
          <a:p>
            <a:pPr lvl="0"/>
            <a:r>
              <a:t>Every 20ms, Robot.robotPeriodic() runs</a:t>
            </a:r>
          </a:p>
          <a:p>
            <a:pPr lvl="0"/>
            <a:r>
              <a:t>It calls CommandScheduler.getInstance().run()</a:t>
            </a:r>
          </a:p>
          <a:p>
            <a:pPr lvl="0"/>
            <a:r>
              <a:t>That one call drives all commands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Walk: The 20ms Loop</a:t>
            </a:r>
          </a:p>
        </p:txBody>
      </p:sp>
      <p:sp>
        <p:nvSpPr>
          <p:cNvPr id="3" name="Content Placeholder 2"/>
          <p:cNvSpPr>
            <a:spLocks noGrp="1"/>
          </p:cNvSpPr>
          <p:nvPr>
            <p:ph idx="1"/>
          </p:nvPr>
        </p:nvSpPr>
        <p:spPr/>
        <p:txBody>
          <a:bodyPr/>
          <a:lstStyle/>
          <a:p>
            <a:pPr lvl="0" indent="0">
              <a:buNone/>
            </a:pPr>
            <a:r>
              <a:rPr>
                <a:solidFill>
                  <a:srgbClr val="7D9029"/>
                </a:solidFill>
                <a:latin typeface="Courier"/>
              </a:rPr>
              <a:t>@Override</a:t>
            </a:r>
            <a:b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robotPeriodic</a:t>
            </a:r>
            <a:r>
              <a:rPr>
                <a:solidFill>
                  <a:srgbClr val="666666"/>
                </a:solidFill>
                <a:latin typeface="Courier"/>
              </a:rPr>
              <a:t>()</a:t>
            </a:r>
            <a:r>
              <a:rPr>
                <a:latin typeface="Courier"/>
              </a:rPr>
              <a:t> </a:t>
            </a:r>
            <a:r>
              <a:rPr>
                <a:solidFill>
                  <a:srgbClr val="666666"/>
                </a:solidFill>
                <a:latin typeface="Courier"/>
              </a:rPr>
              <a:t>{</a:t>
            </a:r>
            <a:br/>
            <a:r>
              <a:rPr>
                <a:latin typeface="Courier"/>
              </a:rPr>
              <a:t>  CommandScheduler</a:t>
            </a:r>
            <a:r>
              <a:rPr>
                <a:solidFill>
                  <a:srgbClr val="666666"/>
                </a:solidFill>
                <a:latin typeface="Courier"/>
              </a:rPr>
              <a:t>.</a:t>
            </a:r>
            <a:r>
              <a:rPr>
                <a:solidFill>
                  <a:srgbClr val="06287E"/>
                </a:solidFill>
                <a:latin typeface="Courier"/>
              </a:rPr>
              <a:t>getInstance</a:t>
            </a:r>
            <a:r>
              <a:rPr>
                <a:solidFill>
                  <a:srgbClr val="666666"/>
                </a:solidFill>
                <a:latin typeface="Courier"/>
              </a:rPr>
              <a:t>().</a:t>
            </a:r>
            <a:r>
              <a:rPr>
                <a:solidFill>
                  <a:srgbClr val="06287E"/>
                </a:solidFill>
                <a:latin typeface="Courier"/>
              </a:rPr>
              <a:t>run</a:t>
            </a:r>
            <a:r>
              <a:rPr>
                <a:solidFill>
                  <a:srgbClr val="666666"/>
                </a:solidFill>
                <a:latin typeface="Courier"/>
              </a:rPr>
              <a:t>();</a:t>
            </a:r>
            <a:br/>
            <a:r>
              <a:rPr>
                <a:solidFill>
                  <a:srgbClr val="666666"/>
                </a:solidFill>
                <a:latin typeface="Courier"/>
              </a:rPr>
              <a:t>}</a:t>
            </a:r>
          </a:p>
          <a:p>
            <a:pPr marL="0" lvl="0" indent="0">
              <a:buNone/>
            </a:pPr>
            <a:r>
              <a:rPr>
                <a:latin typeface="Courier"/>
              </a:rPr>
              <a:t>src/main/java/frc/robot/Robot.java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Happens Each Pass</a:t>
            </a:r>
          </a:p>
        </p:txBody>
      </p:sp>
      <p:sp>
        <p:nvSpPr>
          <p:cNvPr id="3" name="Content Placeholder 2"/>
          <p:cNvSpPr>
            <a:spLocks noGrp="1"/>
          </p:cNvSpPr>
          <p:nvPr>
            <p:ph idx="1"/>
          </p:nvPr>
        </p:nvSpPr>
        <p:spPr/>
        <p:txBody>
          <a:bodyPr/>
          <a:lstStyle/>
          <a:p>
            <a:pPr lvl="0"/>
            <a:r>
              <a:t>Poll triggers and update button edges</a:t>
            </a:r>
          </a:p>
          <a:p>
            <a:pPr lvl="0"/>
            <a:r>
              <a:t>Schedule/cancel commands based on triggers</a:t>
            </a:r>
          </a:p>
          <a:p>
            <a:pPr lvl="0"/>
            <a:r>
              <a:t>Enforce subsystem requirements and defaults</a:t>
            </a:r>
          </a:p>
          <a:p>
            <a:pPr lvl="0"/>
            <a:r>
              <a:t>Run command lifecycle (init/execute/end)</a:t>
            </a:r>
          </a:p>
          <a:p>
            <a:pPr lvl="0"/>
            <a:r>
              <a:t>Run subsystem periodic updates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Our Buttons Right Now</a:t>
            </a:r>
          </a:p>
        </p:txBody>
      </p:sp>
      <p:sp>
        <p:nvSpPr>
          <p:cNvPr id="3" name="Content Placeholder 2"/>
          <p:cNvSpPr>
            <a:spLocks noGrp="1"/>
          </p:cNvSpPr>
          <p:nvPr>
            <p:ph idx="1"/>
          </p:nvPr>
        </p:nvSpPr>
        <p:spPr/>
        <p:txBody>
          <a:bodyPr/>
          <a:lstStyle/>
          <a:p>
            <a:pPr lvl="0"/>
            <a:r>
              <a:t>B button: run shooter while held</a:t>
            </a:r>
          </a:p>
          <a:p>
            <a:pPr lvl="0"/>
            <a:r>
              <a:t>X button: run shooter for 0.5 seconds</a:t>
            </a:r>
          </a:p>
          <a:p>
            <a:pPr lvl="0"/>
            <a:r>
              <a:t>Left stick: intake falcon default</a:t>
            </a:r>
          </a:p>
          <a:p>
            <a:pPr lvl="0"/>
            <a:r>
              <a:t>Right stick: intake spark default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Walk: Shooter Bindings</a:t>
            </a:r>
          </a:p>
        </p:txBody>
      </p:sp>
      <p:sp>
        <p:nvSpPr>
          <p:cNvPr id="3" name="Content Placeholder 2"/>
          <p:cNvSpPr>
            <a:spLocks noGrp="1"/>
          </p:cNvSpPr>
          <p:nvPr>
            <p:ph idx="1"/>
          </p:nvPr>
        </p:nvSpPr>
        <p:spPr/>
        <p:txBody>
          <a:bodyPr/>
          <a:lstStyle/>
          <a:p>
            <a:pPr lvl="0" indent="0">
              <a:buNone/>
            </a:pPr>
            <a:r>
              <a:rPr>
                <a:latin typeface="Courier"/>
              </a:rPr>
              <a:t>m_driverController</a:t>
            </a:r>
            <a:r>
              <a:rPr>
                <a:solidFill>
                  <a:srgbClr val="666666"/>
                </a:solidFill>
                <a:latin typeface="Courier"/>
              </a:rPr>
              <a:t>.</a:t>
            </a:r>
            <a:r>
              <a:rPr>
                <a:solidFill>
                  <a:srgbClr val="06287E"/>
                </a:solidFill>
                <a:latin typeface="Courier"/>
              </a:rPr>
              <a:t>b</a:t>
            </a:r>
            <a:r>
              <a:rPr>
                <a:solidFill>
                  <a:srgbClr val="666666"/>
                </a:solidFill>
                <a:latin typeface="Courier"/>
              </a:rPr>
              <a:t>().</a:t>
            </a:r>
            <a:r>
              <a:rPr>
                <a:solidFill>
                  <a:srgbClr val="06287E"/>
                </a:solidFill>
                <a:latin typeface="Courier"/>
              </a:rPr>
              <a:t>whileTrue</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ShooterCommand</a:t>
            </a:r>
            <a:r>
              <a:rPr>
                <a:solidFill>
                  <a:srgbClr val="666666"/>
                </a:solidFill>
                <a:latin typeface="Courier"/>
              </a:rPr>
              <a:t>(</a:t>
            </a:r>
            <a:r>
              <a:rPr>
                <a:latin typeface="Courier"/>
              </a:rPr>
              <a:t>m_ShooterSubsystem</a:t>
            </a:r>
            <a:r>
              <a:rPr>
                <a:solidFill>
                  <a:srgbClr val="666666"/>
                </a:solidFill>
                <a:latin typeface="Courier"/>
              </a:rPr>
              <a:t>,</a:t>
            </a:r>
            <a:r>
              <a:rPr>
                <a:latin typeface="Courier"/>
              </a:rPr>
              <a:t> m_shooterSpeedSupplier</a:t>
            </a:r>
            <a:r>
              <a:rPr>
                <a:solidFill>
                  <a:srgbClr val="666666"/>
                </a:solidFill>
                <a:latin typeface="Courier"/>
              </a:rPr>
              <a:t>));</a:t>
            </a:r>
            <a:br/>
            <a:r>
              <a:rPr>
                <a:latin typeface="Courier"/>
              </a:rPr>
              <a:t>m_driverController</a:t>
            </a:r>
            <a:r>
              <a:rPr>
                <a:solidFill>
                  <a:srgbClr val="666666"/>
                </a:solidFill>
                <a:latin typeface="Courier"/>
              </a:rPr>
              <a:t>.</a:t>
            </a:r>
            <a:r>
              <a:rPr>
                <a:solidFill>
                  <a:srgbClr val="06287E"/>
                </a:solidFill>
                <a:latin typeface="Courier"/>
              </a:rPr>
              <a:t>x</a:t>
            </a:r>
            <a:r>
              <a:rPr>
                <a:solidFill>
                  <a:srgbClr val="666666"/>
                </a:solidFill>
                <a:latin typeface="Courier"/>
              </a:rPr>
              <a:t>().</a:t>
            </a:r>
            <a:r>
              <a:rPr>
                <a:solidFill>
                  <a:srgbClr val="06287E"/>
                </a:solidFill>
                <a:latin typeface="Courier"/>
              </a:rPr>
              <a:t>onTrue</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ShooterCommand</a:t>
            </a:r>
            <a:r>
              <a:rPr>
                <a:solidFill>
                  <a:srgbClr val="666666"/>
                </a:solidFill>
                <a:latin typeface="Courier"/>
              </a:rPr>
              <a:t>(</a:t>
            </a:r>
            <a:r>
              <a:rPr>
                <a:latin typeface="Courier"/>
              </a:rPr>
              <a:t>m_ShooterSubsystem</a:t>
            </a:r>
            <a:r>
              <a:rPr>
                <a:solidFill>
                  <a:srgbClr val="666666"/>
                </a:solidFill>
                <a:latin typeface="Courier"/>
              </a:rPr>
              <a:t>,</a:t>
            </a:r>
            <a:r>
              <a:rPr>
                <a:latin typeface="Courier"/>
              </a:rPr>
              <a:t> m_shooterSpeedSupplier</a:t>
            </a:r>
            <a:r>
              <a:rPr>
                <a:solidFill>
                  <a:srgbClr val="666666"/>
                </a:solidFill>
                <a:latin typeface="Courier"/>
              </a:rPr>
              <a:t>)</a:t>
            </a:r>
            <a:br/>
            <a:r>
              <a:rPr>
                <a:latin typeface="Courier"/>
              </a:rPr>
              <a:t>    </a:t>
            </a:r>
            <a:r>
              <a:rPr>
                <a:solidFill>
                  <a:srgbClr val="666666"/>
                </a:solidFill>
                <a:latin typeface="Courier"/>
              </a:rPr>
              <a:t>.</a:t>
            </a:r>
            <a:r>
              <a:rPr>
                <a:solidFill>
                  <a:srgbClr val="06287E"/>
                </a:solidFill>
                <a:latin typeface="Courier"/>
              </a:rPr>
              <a:t>withTimeout</a:t>
            </a:r>
            <a:r>
              <a:rPr>
                <a:solidFill>
                  <a:srgbClr val="666666"/>
                </a:solidFill>
                <a:latin typeface="Courier"/>
              </a:rPr>
              <a:t>(</a:t>
            </a:r>
            <a:r>
              <a:rPr>
                <a:solidFill>
                  <a:srgbClr val="40A070"/>
                </a:solidFill>
                <a:latin typeface="Courier"/>
              </a:rPr>
              <a:t>0.5</a:t>
            </a:r>
            <a:r>
              <a:rPr>
                <a:solidFill>
                  <a:srgbClr val="666666"/>
                </a:solidFill>
                <a:latin typeface="Courier"/>
              </a:rPr>
              <a:t>));</a:t>
            </a:r>
          </a:p>
          <a:p>
            <a:pPr marL="0" lvl="0" indent="0">
              <a:buNone/>
            </a:pPr>
            <a:r>
              <a:rPr>
                <a:latin typeface="Courier"/>
              </a:rPr>
              <a:t>src/main/java/frc/robot/RobotContainer.java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Walk: Intake Defaults</a:t>
            </a:r>
          </a:p>
        </p:txBody>
      </p:sp>
      <p:sp>
        <p:nvSpPr>
          <p:cNvPr id="3" name="Content Placeholder 2"/>
          <p:cNvSpPr>
            <a:spLocks noGrp="1"/>
          </p:cNvSpPr>
          <p:nvPr>
            <p:ph idx="1"/>
          </p:nvPr>
        </p:nvSpPr>
        <p:spPr/>
        <p:txBody>
          <a:bodyPr>
            <a:normAutofit lnSpcReduction="10000"/>
          </a:bodyPr>
          <a:lstStyle/>
          <a:p>
            <a:pPr lvl="0" indent="0">
              <a:buNone/>
            </a:pPr>
            <a:r>
              <a:rPr>
                <a:latin typeface="Courier"/>
              </a:rPr>
              <a:t>m_intakeFalconSubsystem</a:t>
            </a:r>
            <a:r>
              <a:rPr>
                <a:solidFill>
                  <a:srgbClr val="666666"/>
                </a:solidFill>
                <a:latin typeface="Courier"/>
              </a:rPr>
              <a:t>.</a:t>
            </a:r>
            <a:r>
              <a:rPr>
                <a:solidFill>
                  <a:srgbClr val="06287E"/>
                </a:solidFill>
                <a:latin typeface="Courier"/>
              </a:rPr>
              <a:t>setDefaultCommand</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IntakeFalconCommand</a:t>
            </a:r>
            <a:r>
              <a:rPr>
                <a:solidFill>
                  <a:srgbClr val="666666"/>
                </a:solidFill>
                <a:latin typeface="Courier"/>
              </a:rPr>
              <a:t>(</a:t>
            </a:r>
            <a:r>
              <a:rPr>
                <a:latin typeface="Courier"/>
              </a:rPr>
              <a:t>m_intakeFalconSubsystem</a:t>
            </a:r>
            <a:r>
              <a:rPr>
                <a:solidFill>
                  <a:srgbClr val="666666"/>
                </a:solidFill>
                <a:latin typeface="Courier"/>
              </a:rPr>
              <a:t>,</a:t>
            </a:r>
            <a:r>
              <a:rPr>
                <a:latin typeface="Courier"/>
              </a:rPr>
              <a:t> m_intakeFalconSpeedSupplier</a:t>
            </a:r>
            <a:r>
              <a:rPr>
                <a:solidFill>
                  <a:srgbClr val="666666"/>
                </a:solidFill>
                <a:latin typeface="Courier"/>
              </a:rPr>
              <a:t>));</a:t>
            </a:r>
            <a:br/>
            <a:r>
              <a:rPr>
                <a:latin typeface="Courier"/>
              </a:rPr>
              <a:t>m_intakeSparkSubsystem</a:t>
            </a:r>
            <a:r>
              <a:rPr>
                <a:solidFill>
                  <a:srgbClr val="666666"/>
                </a:solidFill>
                <a:latin typeface="Courier"/>
              </a:rPr>
              <a:t>.</a:t>
            </a:r>
            <a:r>
              <a:rPr>
                <a:solidFill>
                  <a:srgbClr val="06287E"/>
                </a:solidFill>
                <a:latin typeface="Courier"/>
              </a:rPr>
              <a:t>setDefaultCommand</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IntakeSparkCommand</a:t>
            </a:r>
            <a:r>
              <a:rPr>
                <a:solidFill>
                  <a:srgbClr val="666666"/>
                </a:solidFill>
                <a:latin typeface="Courier"/>
              </a:rPr>
              <a:t>(</a:t>
            </a:r>
            <a:r>
              <a:rPr>
                <a:latin typeface="Courier"/>
              </a:rPr>
              <a:t>m_intakeSparkSubsystem</a:t>
            </a:r>
            <a:r>
              <a:rPr>
                <a:solidFill>
                  <a:srgbClr val="666666"/>
                </a:solidFill>
                <a:latin typeface="Courier"/>
              </a:rPr>
              <a:t>,</a:t>
            </a:r>
            <a:r>
              <a:rPr>
                <a:latin typeface="Courier"/>
              </a:rPr>
              <a:t> m_intakeSparkSpeedSupplier</a:t>
            </a:r>
            <a:r>
              <a:rPr>
                <a:solidFill>
                  <a:srgbClr val="666666"/>
                </a:solidFill>
                <a:latin typeface="Courier"/>
              </a:rPr>
              <a:t>));</a:t>
            </a:r>
          </a:p>
          <a:p>
            <a:pPr marL="0" lvl="0" indent="0">
              <a:buNone/>
            </a:pPr>
            <a:r>
              <a:rPr>
                <a:latin typeface="Courier"/>
              </a:rPr>
              <a:t>src/main/java/frc/robot/RobotContainer.java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Dashboard Evidence (Run 1)</a:t>
            </a:r>
          </a:p>
        </p:txBody>
      </p:sp>
      <p:pic>
        <p:nvPicPr>
          <p:cNvPr id="3" name="Picture 1" descr="slides/assets/dashboard-counters-previous.png"/>
          <p:cNvPicPr>
            <a:picLocks noGrp="1" noChangeAspect="1"/>
          </p:cNvPicPr>
          <p:nvPr/>
        </p:nvPicPr>
        <p:blipFill>
          <a:blip r:embed="rId2"/>
          <a:stretch>
            <a:fillRect/>
          </a:stretch>
        </p:blipFill>
        <p:spPr bwMode="auto">
          <a:xfrm>
            <a:off x="457200" y="1638300"/>
            <a:ext cx="8229600" cy="25019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 - Defaults run every loop (execute ~= teleop count) - Shooter runs in short bursts (15 presses) - Cancelled counts match releases/interrupts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Dashboard Evidence (Run 2)</a:t>
            </a:r>
          </a:p>
        </p:txBody>
      </p:sp>
      <p:pic>
        <p:nvPicPr>
          <p:cNvPr id="3" name="Picture 1" descr="slides/assets/dashboard-counters.png"/>
          <p:cNvPicPr>
            <a:picLocks noGrp="1" noChangeAspect="1"/>
          </p:cNvPicPr>
          <p:nvPr/>
        </p:nvPicPr>
        <p:blipFill>
          <a:blip r:embed="rId2"/>
          <a:stretch>
            <a:fillRect/>
          </a:stretch>
        </p:blipFill>
        <p:spPr bwMode="auto">
          <a:xfrm>
            <a:off x="1117600" y="1193800"/>
            <a:ext cx="6908800" cy="33909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 - Defaults run every loop (execute ~= teleop count) - Shooter runs in short bursts (button driven) - ActiveSeconds is total across presses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Dashboard Takeaways</a:t>
            </a:r>
          </a:p>
        </p:txBody>
      </p:sp>
      <p:sp>
        <p:nvSpPr>
          <p:cNvPr id="3" name="Content Placeholder 2"/>
          <p:cNvSpPr>
            <a:spLocks noGrp="1"/>
          </p:cNvSpPr>
          <p:nvPr>
            <p:ph idx="1"/>
          </p:nvPr>
        </p:nvSpPr>
        <p:spPr/>
        <p:txBody>
          <a:bodyPr/>
          <a:lstStyle/>
          <a:p>
            <a:pPr lvl="0"/>
            <a:r>
              <a:t>Default commands run every loop (execute ~= teleop count)</a:t>
            </a:r>
          </a:p>
          <a:p>
            <a:pPr lvl="0"/>
            <a:r>
              <a:t>Button command like Shooter runs in short bursts (15 presses)</a:t>
            </a:r>
          </a:p>
          <a:p>
            <a:pPr lvl="0"/>
            <a:r>
              <a:t>Cancelled counts match releases/interrupts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Subsystems Own Motors</a:t>
            </a:r>
          </a:p>
        </p:txBody>
      </p:sp>
      <p:sp>
        <p:nvSpPr>
          <p:cNvPr id="3" name="Content Placeholder 2"/>
          <p:cNvSpPr>
            <a:spLocks noGrp="1"/>
          </p:cNvSpPr>
          <p:nvPr>
            <p:ph idx="1"/>
          </p:nvPr>
        </p:nvSpPr>
        <p:spPr/>
        <p:txBody>
          <a:bodyPr/>
          <a:lstStyle/>
          <a:p>
            <a:pPr lvl="0"/>
            <a:r>
              <a:t>Subsystems are the only place motor code lives</a:t>
            </a:r>
          </a:p>
          <a:p>
            <a:pPr lvl="0"/>
            <a:r>
              <a:t>Commands ask subsystems to do work</a:t>
            </a:r>
          </a:p>
          <a:p>
            <a:pPr lvl="0"/>
            <a:r>
              <a:t>Keeps hardware logic in one file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Scheduler Sequence (One Pass)</a:t>
            </a:r>
          </a:p>
        </p:txBody>
      </p:sp>
      <p:sp>
        <p:nvSpPr>
          <p:cNvPr id="3" name="Content Placeholder 2"/>
          <p:cNvSpPr>
            <a:spLocks noGrp="1"/>
          </p:cNvSpPr>
          <p:nvPr>
            <p:ph idx="1"/>
          </p:nvPr>
        </p:nvSpPr>
        <p:spPr/>
        <p:txBody>
          <a:bodyPr/>
          <a:lstStyle/>
          <a:p>
            <a:pPr lvl="0"/>
            <a:r>
              <a:rPr dirty="0" err="1"/>
              <a:t>Robot.robotPeriodic</a:t>
            </a:r>
            <a:r>
              <a:rPr dirty="0"/>
              <a:t> calls </a:t>
            </a:r>
            <a:r>
              <a:rPr dirty="0" err="1"/>
              <a:t>CommandScheduler.run</a:t>
            </a:r>
            <a:r>
              <a:rPr dirty="0"/>
              <a:t>()</a:t>
            </a:r>
          </a:p>
          <a:p>
            <a:pPr lvl="0"/>
            <a:r>
              <a:rPr dirty="0"/>
              <a:t>Scheduler polls triggers from </a:t>
            </a:r>
            <a:r>
              <a:rPr dirty="0" err="1"/>
              <a:t>RobotContainer</a:t>
            </a:r>
            <a:r>
              <a:rPr dirty="0"/>
              <a:t> bindings</a:t>
            </a:r>
          </a:p>
          <a:p>
            <a:pPr lvl="0"/>
            <a:r>
              <a:rPr dirty="0" err="1"/>
              <a:t>ShooterCommand</a:t>
            </a:r>
            <a:r>
              <a:rPr dirty="0"/>
              <a:t> execute runs if B/X scheduled</a:t>
            </a:r>
          </a:p>
          <a:p>
            <a:pPr lvl="0"/>
            <a:r>
              <a:rPr dirty="0" err="1"/>
              <a:t>ShooterSubsystem</a:t>
            </a:r>
            <a:r>
              <a:rPr dirty="0"/>
              <a:t> periodic applies </a:t>
            </a:r>
            <a:r>
              <a:rPr dirty="0" err="1"/>
              <a:t>mShooterSpeed</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Walk: Command Gets Speed</a:t>
            </a:r>
          </a:p>
        </p:txBody>
      </p:sp>
      <p:sp>
        <p:nvSpPr>
          <p:cNvPr id="3" name="Content Placeholder 2"/>
          <p:cNvSpPr>
            <a:spLocks noGrp="1"/>
          </p:cNvSpPr>
          <p:nvPr>
            <p:ph idx="1"/>
          </p:nvPr>
        </p:nvSpPr>
        <p:spPr/>
        <p:txBody>
          <a:bodyPr/>
          <a:lstStyle/>
          <a:p>
            <a:pPr lvl="0" indent="0">
              <a:buNone/>
            </a:pPr>
            <a:r>
              <a:rPr>
                <a:solidFill>
                  <a:srgbClr val="7D9029"/>
                </a:solidFill>
                <a:latin typeface="Courier"/>
              </a:rPr>
              <a:t>@Override</a:t>
            </a:r>
            <a:b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execute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902000"/>
                </a:solidFill>
                <a:latin typeface="Courier"/>
              </a:rPr>
              <a:t>double</a:t>
            </a:r>
            <a:r>
              <a:rPr>
                <a:latin typeface="Courier"/>
              </a:rPr>
              <a:t> speed </a:t>
            </a:r>
            <a:r>
              <a:rPr>
                <a:solidFill>
                  <a:srgbClr val="666666"/>
                </a:solidFill>
                <a:latin typeface="Courier"/>
              </a:rPr>
              <a:t>=</a:t>
            </a:r>
            <a:r>
              <a:rPr>
                <a:latin typeface="Courier"/>
              </a:rPr>
              <a:t> m_speedSupplier</a:t>
            </a:r>
            <a:r>
              <a:rPr>
                <a:solidFill>
                  <a:srgbClr val="666666"/>
                </a:solidFill>
                <a:latin typeface="Courier"/>
              </a:rPr>
              <a:t>.</a:t>
            </a:r>
            <a:r>
              <a:rPr>
                <a:solidFill>
                  <a:srgbClr val="06287E"/>
                </a:solidFill>
                <a:latin typeface="Courier"/>
              </a:rPr>
              <a:t>getAsDouble</a:t>
            </a:r>
            <a:r>
              <a:rPr>
                <a:solidFill>
                  <a:srgbClr val="666666"/>
                </a:solidFill>
                <a:latin typeface="Courier"/>
              </a:rPr>
              <a:t>();</a:t>
            </a:r>
            <a:br/>
            <a:r>
              <a:rPr>
                <a:latin typeface="Courier"/>
              </a:rPr>
              <a:t>  m_subsystem</a:t>
            </a:r>
            <a:r>
              <a:rPr>
                <a:solidFill>
                  <a:srgbClr val="666666"/>
                </a:solidFill>
                <a:latin typeface="Courier"/>
              </a:rPr>
              <a:t>.</a:t>
            </a:r>
            <a:r>
              <a:rPr>
                <a:solidFill>
                  <a:srgbClr val="06287E"/>
                </a:solidFill>
                <a:latin typeface="Courier"/>
              </a:rPr>
              <a:t>setShooterSpeed</a:t>
            </a:r>
            <a:r>
              <a:rPr>
                <a:solidFill>
                  <a:srgbClr val="666666"/>
                </a:solidFill>
                <a:latin typeface="Courier"/>
              </a:rPr>
              <a:t>(</a:t>
            </a:r>
            <a:r>
              <a:rPr>
                <a:latin typeface="Courier"/>
              </a:rPr>
              <a:t>speed</a:t>
            </a:r>
            <a:r>
              <a:rPr>
                <a:solidFill>
                  <a:srgbClr val="666666"/>
                </a:solidFill>
                <a:latin typeface="Courier"/>
              </a:rPr>
              <a:t>);</a:t>
            </a:r>
            <a:br/>
            <a:r>
              <a:rPr>
                <a:solidFill>
                  <a:srgbClr val="666666"/>
                </a:solidFill>
                <a:latin typeface="Courier"/>
              </a:rPr>
              <a:t>}</a:t>
            </a:r>
          </a:p>
          <a:p>
            <a:pPr marL="0" lvl="0" indent="0">
              <a:buNone/>
            </a:pPr>
            <a:r>
              <a:rPr>
                <a:latin typeface="Courier"/>
              </a:rPr>
              <a:t>src/main/java/frc/robot/commands/ShooterCommand.java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Walk: Subsystem Stores Speed</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private</a:t>
            </a:r>
            <a:r>
              <a:rPr>
                <a:latin typeface="Courier"/>
              </a:rPr>
              <a:t> </a:t>
            </a:r>
            <a:r>
              <a:rPr>
                <a:solidFill>
                  <a:srgbClr val="902000"/>
                </a:solidFill>
                <a:latin typeface="Courier"/>
              </a:rPr>
              <a:t>double</a:t>
            </a:r>
            <a:r>
              <a:rPr>
                <a:latin typeface="Courier"/>
              </a:rPr>
              <a:t> mShooterSpeed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br/>
            <a:b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setShooterSpeed</a:t>
            </a:r>
            <a:r>
              <a:rPr>
                <a:solidFill>
                  <a:srgbClr val="666666"/>
                </a:solidFill>
                <a:latin typeface="Courier"/>
              </a:rPr>
              <a:t>(</a:t>
            </a:r>
            <a:r>
              <a:rPr>
                <a:solidFill>
                  <a:srgbClr val="902000"/>
                </a:solidFill>
                <a:latin typeface="Courier"/>
              </a:rPr>
              <a:t>double</a:t>
            </a:r>
            <a:r>
              <a:rPr>
                <a:latin typeface="Courier"/>
              </a:rPr>
              <a:t> motorSpeed</a:t>
            </a:r>
            <a:r>
              <a:rPr>
                <a:solidFill>
                  <a:srgbClr val="666666"/>
                </a:solidFill>
                <a:latin typeface="Courier"/>
              </a:rPr>
              <a:t>)</a:t>
            </a:r>
            <a:r>
              <a:rPr>
                <a:latin typeface="Courier"/>
              </a:rPr>
              <a:t> </a:t>
            </a:r>
            <a:r>
              <a:rPr>
                <a:solidFill>
                  <a:srgbClr val="666666"/>
                </a:solidFill>
                <a:latin typeface="Courier"/>
              </a:rPr>
              <a:t>{</a:t>
            </a:r>
            <a:br/>
            <a:r>
              <a:rPr>
                <a:latin typeface="Courier"/>
              </a:rPr>
              <a:t>  mShooterSpeed </a:t>
            </a:r>
            <a:r>
              <a:rPr>
                <a:solidFill>
                  <a:srgbClr val="666666"/>
                </a:solidFill>
                <a:latin typeface="Courier"/>
              </a:rPr>
              <a:t>=</a:t>
            </a:r>
            <a:r>
              <a:rPr>
                <a:latin typeface="Courier"/>
              </a:rPr>
              <a:t> motorSpeed</a:t>
            </a:r>
            <a:r>
              <a:rPr>
                <a:solidFill>
                  <a:srgbClr val="666666"/>
                </a:solidFill>
                <a:latin typeface="Courier"/>
              </a:rPr>
              <a:t>;</a:t>
            </a:r>
            <a:br/>
            <a:r>
              <a:rPr>
                <a:solidFill>
                  <a:srgbClr val="666666"/>
                </a:solidFill>
                <a:latin typeface="Courier"/>
              </a:rPr>
              <a:t>}</a:t>
            </a:r>
          </a:p>
          <a:p>
            <a:pPr marL="0" lvl="0" indent="0">
              <a:buNone/>
            </a:pPr>
            <a:r>
              <a:rPr>
                <a:latin typeface="Courier"/>
              </a:rPr>
              <a:t>src/main/java/frc/robot/subsystems/ShooterSubsystem.java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Walk: Periodic Writes Motor</a:t>
            </a:r>
          </a:p>
        </p:txBody>
      </p:sp>
      <p:sp>
        <p:nvSpPr>
          <p:cNvPr id="3" name="Content Placeholder 2"/>
          <p:cNvSpPr>
            <a:spLocks noGrp="1"/>
          </p:cNvSpPr>
          <p:nvPr>
            <p:ph idx="1"/>
          </p:nvPr>
        </p:nvSpPr>
        <p:spPr/>
        <p:txBody>
          <a:bodyPr>
            <a:normAutofit lnSpcReduction="10000"/>
          </a:bodyPr>
          <a:lstStyle/>
          <a:p>
            <a:pPr lvl="0" indent="0">
              <a:buNone/>
            </a:pPr>
            <a:r>
              <a:rPr b="1">
                <a:solidFill>
                  <a:srgbClr val="007020"/>
                </a:solidFill>
                <a:latin typeface="Courier"/>
              </a:rPr>
              <a:t>private</a:t>
            </a:r>
            <a:r>
              <a:rPr>
                <a:latin typeface="Courier"/>
              </a:rPr>
              <a:t> </a:t>
            </a:r>
            <a:r>
              <a:rPr>
                <a:solidFill>
                  <a:srgbClr val="902000"/>
                </a:solidFill>
                <a:latin typeface="Courier"/>
              </a:rPr>
              <a:t>final</a:t>
            </a:r>
            <a:r>
              <a:rPr>
                <a:latin typeface="Courier"/>
              </a:rPr>
              <a:t> SparkMax mShooterMotor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SparkMax</a:t>
            </a:r>
            <a:r>
              <a:rPr>
                <a:solidFill>
                  <a:srgbClr val="666666"/>
                </a:solidFill>
                <a:latin typeface="Courier"/>
              </a:rPr>
              <a:t>(</a:t>
            </a:r>
            <a:r>
              <a:rPr>
                <a:latin typeface="Courier"/>
              </a:rPr>
              <a:t>Constants</a:t>
            </a:r>
            <a:r>
              <a:rPr>
                <a:solidFill>
                  <a:srgbClr val="666666"/>
                </a:solidFill>
                <a:latin typeface="Courier"/>
              </a:rPr>
              <a:t>.</a:t>
            </a:r>
            <a:r>
              <a:rPr>
                <a:solidFill>
                  <a:srgbClr val="06287E"/>
                </a:solidFill>
                <a:latin typeface="Courier"/>
              </a:rPr>
              <a:t>ShooterCanID</a:t>
            </a:r>
            <a:r>
              <a:rPr>
                <a:solidFill>
                  <a:srgbClr val="666666"/>
                </a:solidFill>
                <a:latin typeface="Courier"/>
              </a:rPr>
              <a:t>,</a:t>
            </a:r>
            <a:r>
              <a:rPr>
                <a:latin typeface="Courier"/>
              </a:rPr>
              <a:t> MotorType</a:t>
            </a:r>
            <a:r>
              <a:rPr>
                <a:solidFill>
                  <a:srgbClr val="666666"/>
                </a:solidFill>
                <a:latin typeface="Courier"/>
              </a:rPr>
              <a:t>.</a:t>
            </a:r>
            <a:r>
              <a:rPr>
                <a:solidFill>
                  <a:srgbClr val="06287E"/>
                </a:solidFill>
                <a:latin typeface="Courier"/>
              </a:rPr>
              <a:t>kBrushless</a:t>
            </a:r>
            <a:r>
              <a:rPr>
                <a:solidFill>
                  <a:srgbClr val="666666"/>
                </a:solidFill>
                <a:latin typeface="Courier"/>
              </a:rPr>
              <a:t>);</a:t>
            </a:r>
            <a:br/>
            <a:b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periodic</a:t>
            </a:r>
            <a:r>
              <a:rPr>
                <a:solidFill>
                  <a:srgbClr val="666666"/>
                </a:solidFill>
                <a:latin typeface="Courier"/>
              </a:rPr>
              <a:t>()</a:t>
            </a:r>
            <a:r>
              <a:rPr>
                <a:latin typeface="Courier"/>
              </a:rPr>
              <a:t> </a:t>
            </a:r>
            <a:r>
              <a:rPr>
                <a:solidFill>
                  <a:srgbClr val="666666"/>
                </a:solidFill>
                <a:latin typeface="Courier"/>
              </a:rPr>
              <a:t>{</a:t>
            </a:r>
            <a:br/>
            <a:r>
              <a:rPr>
                <a:latin typeface="Courier"/>
              </a:rPr>
              <a:t>  mShooterMotor</a:t>
            </a:r>
            <a:r>
              <a:rPr>
                <a:solidFill>
                  <a:srgbClr val="666666"/>
                </a:solidFill>
                <a:latin typeface="Courier"/>
              </a:rPr>
              <a:t>.</a:t>
            </a:r>
            <a:r>
              <a:rPr>
                <a:solidFill>
                  <a:srgbClr val="06287E"/>
                </a:solidFill>
                <a:latin typeface="Courier"/>
              </a:rPr>
              <a:t>set</a:t>
            </a:r>
            <a:r>
              <a:rPr>
                <a:solidFill>
                  <a:srgbClr val="666666"/>
                </a:solidFill>
                <a:latin typeface="Courier"/>
              </a:rPr>
              <a:t>(</a:t>
            </a:r>
            <a:r>
              <a:rPr>
                <a:latin typeface="Courier"/>
              </a:rPr>
              <a:t>mShooterSpeed</a:t>
            </a:r>
            <a:r>
              <a:rPr>
                <a:solidFill>
                  <a:srgbClr val="666666"/>
                </a:solidFill>
                <a:latin typeface="Courier"/>
              </a:rPr>
              <a:t>);</a:t>
            </a:r>
            <a:br/>
            <a:r>
              <a:rPr>
                <a:solidFill>
                  <a:srgbClr val="666666"/>
                </a:solidFill>
                <a:latin typeface="Courier"/>
              </a:rPr>
              <a:t>}</a:t>
            </a:r>
          </a:p>
          <a:p>
            <a:pPr marL="0" lvl="0" indent="0">
              <a:buNone/>
            </a:pPr>
            <a:r>
              <a:rPr>
                <a:latin typeface="Courier"/>
              </a:rPr>
              <a:t>src/main/java/frc/robot/subsystems/ShooterSubsystem.java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This Style Helps</a:t>
            </a:r>
          </a:p>
        </p:txBody>
      </p:sp>
      <p:sp>
        <p:nvSpPr>
          <p:cNvPr id="3" name="Content Placeholder 2"/>
          <p:cNvSpPr>
            <a:spLocks noGrp="1"/>
          </p:cNvSpPr>
          <p:nvPr>
            <p:ph idx="1"/>
          </p:nvPr>
        </p:nvSpPr>
        <p:spPr/>
        <p:txBody>
          <a:bodyPr/>
          <a:lstStyle/>
          <a:p>
            <a:pPr lvl="0"/>
            <a:r>
              <a:t>Buttons in one place</a:t>
            </a:r>
          </a:p>
          <a:p>
            <a:pPr lvl="0"/>
            <a:r>
              <a:t>Hardware in one place</a:t>
            </a:r>
          </a:p>
          <a:p>
            <a:pPr lvl="0"/>
            <a:r>
              <a:t>Commands are reusable</a:t>
            </a:r>
          </a:p>
          <a:p>
            <a:pPr lvl="0"/>
            <a:r>
              <a:t>Multiple systems can run together safely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Simple Mental Model</a:t>
            </a:r>
          </a:p>
        </p:txBody>
      </p:sp>
      <p:sp>
        <p:nvSpPr>
          <p:cNvPr id="3" name="Content Placeholder 2"/>
          <p:cNvSpPr>
            <a:spLocks noGrp="1"/>
          </p:cNvSpPr>
          <p:nvPr>
            <p:ph idx="1"/>
          </p:nvPr>
        </p:nvSpPr>
        <p:spPr/>
        <p:txBody>
          <a:bodyPr/>
          <a:lstStyle/>
          <a:p>
            <a:pPr lvl="0"/>
            <a:r>
              <a:t>Command = repeated function</a:t>
            </a:r>
          </a:p>
          <a:p>
            <a:pPr lvl="0"/>
            <a:r>
              <a:t>Subsystem = robot part</a:t>
            </a:r>
          </a:p>
          <a:p>
            <a:pPr lvl="0"/>
            <a:r>
              <a:t>Scheduler = loop that picks functions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1468</Words>
  <Application>Microsoft Office PowerPoint</Application>
  <PresentationFormat>On-screen Show (16:9)</PresentationFormat>
  <Paragraphs>117</Paragraphs>
  <Slides>23</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vt:lpstr>
      <vt:lpstr>Office Theme</vt:lpstr>
      <vt:lpstr>Command-Based Control Flow</vt:lpstr>
      <vt:lpstr>Title</vt:lpstr>
      <vt:lpstr>The Big Picture</vt:lpstr>
      <vt:lpstr>Three Layers</vt:lpstr>
      <vt:lpstr>Boot Sequence</vt:lpstr>
      <vt:lpstr>The Scheduler Starts Here</vt:lpstr>
      <vt:lpstr>Code Walk: The 20ms Loop</vt:lpstr>
      <vt:lpstr>What Happens Each Pass</vt:lpstr>
      <vt:lpstr>Our Buttons Right Now</vt:lpstr>
      <vt:lpstr>Code Walk: Shooter Bindings</vt:lpstr>
      <vt:lpstr>Code Walk: Intake Defaults</vt:lpstr>
      <vt:lpstr>Dashboard Evidence (Run 1)</vt:lpstr>
      <vt:lpstr>PowerPoint Presentation</vt:lpstr>
      <vt:lpstr>Dashboard Evidence (Run 2)</vt:lpstr>
      <vt:lpstr>PowerPoint Presentation</vt:lpstr>
      <vt:lpstr>Dashboard Takeaways</vt:lpstr>
      <vt:lpstr>Subsystems Own Motors</vt:lpstr>
      <vt:lpstr>Scheduler Sequence (One Pass)</vt:lpstr>
      <vt:lpstr>Code Walk: Command Gets Speed</vt:lpstr>
      <vt:lpstr>Code Walk: Subsystem Stores Speed</vt:lpstr>
      <vt:lpstr>Code Walk: Periodic Writes Motor</vt:lpstr>
      <vt:lpstr>Why This Style Helps</vt:lpstr>
      <vt:lpstr>Simple Mental Model</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DAVID MONACHELLO</cp:lastModifiedBy>
  <cp:revision>1</cp:revision>
  <dcterms:created xsi:type="dcterms:W3CDTF">2026-01-21T21:07:25Z</dcterms:created>
  <dcterms:modified xsi:type="dcterms:W3CDTF">2026-01-21T21:09:28Z</dcterms:modified>
</cp:coreProperties>
</file>